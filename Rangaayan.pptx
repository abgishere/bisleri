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Open Sans" panose="020B0606030504020204" pitchFamily="34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08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9127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Empowering Rural Women Artisans: Our Mission &amp;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717613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Rangaayan</a:t>
            </a:r>
            <a:r>
              <a:rPr lang="en-US" sz="1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 women-first marketplace that pays fair prices, and connects handcrafted goods to global buyers.</a:t>
            </a:r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7D00EF-D390-CDCB-42BD-8F74A763B478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75E18-D071-0848-F5F1-B520841D3D0C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FE6E2911-7347-30BE-9464-853849F750D6}"/>
              </a:ext>
            </a:extLst>
          </p:cNvPr>
          <p:cNvSpPr/>
          <p:nvPr/>
        </p:nvSpPr>
        <p:spPr>
          <a:xfrm>
            <a:off x="6114974" y="46664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/>
              <a:t>Problem statement: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99836"/>
            <a:ext cx="123660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The Problem: Invisible Artisans, Lost Opportunities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56926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133951" y="5448776"/>
            <a:ext cx="28898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Exploitative middlemen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33951" y="5939195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Unfair cuts, opaque pricing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56926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57605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 direct market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76054" y="5939195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access to buyers and fair revenue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56926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018157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Digital exclusion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018157" y="5939195"/>
            <a:ext cx="38184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onboarding and low tech literacy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A64F17-D0FB-097E-8853-5EADE4C7890F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B96C63-564D-A0F8-6C82-A9EDD582CE7C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2562" y="618530"/>
            <a:ext cx="7241143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  Rangaayan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91991" y="1305401"/>
            <a:ext cx="10983277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              A Women‑Centric Digital Marketplace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691991" y="2336840"/>
            <a:ext cx="8441293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91" y="2826782"/>
            <a:ext cx="6996946" cy="459033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108" y="2768798"/>
            <a:ext cx="950952" cy="1188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89444" y="2768798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OTP‑Only Login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0789444" y="3250049"/>
            <a:ext cx="3156466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Zero-friction access for low-literacy users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3108" y="4302085"/>
            <a:ext cx="950952" cy="1188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444" y="4302085"/>
            <a:ext cx="247138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 Pricing Engine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0789444" y="4783336"/>
            <a:ext cx="3156466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fair prices for every artisan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3108" y="5835372"/>
            <a:ext cx="950952" cy="11886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9444" y="5835372"/>
            <a:ext cx="2476619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SHG &amp; NGO Integration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0789444" y="6316623"/>
            <a:ext cx="3156466" cy="59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Trusted onboarding and last-mile reach</a:t>
            </a:r>
            <a:endParaRPr lang="en-US" sz="155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9C7AE062-2D50-36B4-B4FB-133166D1A453}"/>
              </a:ext>
            </a:extLst>
          </p:cNvPr>
          <p:cNvSpPr/>
          <p:nvPr/>
        </p:nvSpPr>
        <p:spPr>
          <a:xfrm>
            <a:off x="4559914" y="3998443"/>
            <a:ext cx="2880116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7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Our Solution?      </a:t>
            </a:r>
            <a:endParaRPr lang="en-US" sz="7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DAE27C-24EB-7C73-6B31-513F8E9A3AF7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9F36B3-BF33-454F-4F8C-D4D190094B9F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7788" y="1112951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5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Differentiates Us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446014" y="1925836"/>
            <a:ext cx="117382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serve organizations buying in bulk, not individual consumers. Our focus is on impact-driven B2B customers who value authentic, ethical products and measurable social outcomes.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6014" y="2545556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46014" y="3182303"/>
            <a:ext cx="3827740" cy="3031093"/>
          </a:xfrm>
          <a:prstGeom prst="roundRect">
            <a:avLst>
              <a:gd name="adj" fmla="val 362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446014" y="3159443"/>
            <a:ext cx="3827740" cy="91440"/>
          </a:xfrm>
          <a:prstGeom prst="roundRect">
            <a:avLst>
              <a:gd name="adj" fmla="val 7814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104674" y="2927152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57788" y="305466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38895" y="360759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Festival Gift Orders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38895" y="3949779"/>
            <a:ext cx="34419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Bulk pricing advantage during peak seasons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38895" y="4502468"/>
            <a:ext cx="3441978" cy="151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artisan sourcing = authentic, handcrafted products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CSR value with rich character &amp; impact storytelling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Flexible bulk quantities and customization options for events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01270" y="3182303"/>
            <a:ext cx="3827740" cy="3031093"/>
          </a:xfrm>
          <a:prstGeom prst="roundRect">
            <a:avLst>
              <a:gd name="adj" fmla="val 362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01270" y="3159443"/>
            <a:ext cx="3827740" cy="91440"/>
          </a:xfrm>
          <a:prstGeom prst="roundRect">
            <a:avLst>
              <a:gd name="adj" fmla="val 7814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059930" y="2927152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213044" y="305466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94152" y="360759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Corporate Gifting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594152" y="3949779"/>
            <a:ext cx="34419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companies seeking authentic, ethical gifts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94152" y="4502468"/>
            <a:ext cx="3441978" cy="151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Competitive bulk pricing and tiered discounts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alignment with sustainability and women’s empowerment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Customization and white‑labeling available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356527" y="3182303"/>
            <a:ext cx="3827740" cy="3031093"/>
          </a:xfrm>
          <a:prstGeom prst="roundRect">
            <a:avLst>
              <a:gd name="adj" fmla="val 362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356527" y="3159443"/>
            <a:ext cx="3827740" cy="91440"/>
          </a:xfrm>
          <a:prstGeom prst="roundRect">
            <a:avLst>
              <a:gd name="adj" fmla="val 78140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1015186" y="2927152"/>
            <a:ext cx="510302" cy="510302"/>
          </a:xfrm>
          <a:prstGeom prst="roundRect">
            <a:avLst>
              <a:gd name="adj" fmla="val 179188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1168301" y="3054668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49408" y="360759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Colleges &amp; Institutions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549408" y="3949779"/>
            <a:ext cx="34419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Meaningful gifts for students, alumni, and events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49408" y="4502468"/>
            <a:ext cx="3441978" cy="151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Unique gift experiences with an educational, social‑impact story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Institutional bulk pricing and procurement-friendly ordering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student entrepreneurship and cultural preservation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446014" y="6441902"/>
            <a:ext cx="11738253" cy="28813"/>
          </a:xfrm>
          <a:prstGeom prst="rect">
            <a:avLst/>
          </a:prstGeom>
          <a:solidFill>
            <a:srgbClr val="443728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446014" y="6614160"/>
            <a:ext cx="117382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Differentiators:</a:t>
            </a:r>
            <a:r>
              <a:rPr lang="en-US" sz="13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Direct artisan connection (no middlemen) • Authentic handcrafted quality • Bulk pricing advantages • CSR &amp; impact storytelling • Customization capabilities • Fair-trade transparency</a:t>
            </a:r>
            <a:endParaRPr lang="en-US" sz="13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371E1C-D68E-0F5D-F670-DC5C1E672F3B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13D02A-3792-E4D4-672C-3CF3499E7194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8553" y="1276350"/>
            <a:ext cx="7565946" cy="503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Our SDG Impact: Building Equitable Growth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58553" y="2008346"/>
            <a:ext cx="11113175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Rangaayan is deeply committed to the United Nations Sustainable Development Goals, driving positive change across multiple fronts for our artisan communities.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8553" y="2577465"/>
            <a:ext cx="402550" cy="402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58553" y="3122890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SDG 5: Gender Equality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758553" y="3443049"/>
            <a:ext cx="548509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Empowering rural women artisans by providing direct market access, fair pay, and ownership over their economic futures.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6518" y="2577465"/>
            <a:ext cx="402550" cy="4025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86518" y="3122890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SDG 8: Decent Work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386518" y="3443049"/>
            <a:ext cx="548520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Ensuring fair wages and safe, dignified working conditions for artisans, free from exploitation by middlemen.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8553" y="4112300"/>
            <a:ext cx="402550" cy="4025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58553" y="4657725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SDG 1: No Poverty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758553" y="4977884"/>
            <a:ext cx="548509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Increasing income and financial stability for marginalized artisan communities, lifting families out of poverty.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6518" y="4112300"/>
            <a:ext cx="402550" cy="4025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86518" y="4657725"/>
            <a:ext cx="2488763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SDG 10: Reduced Inequalities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386518" y="4977884"/>
            <a:ext cx="548520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Bridging the gap between rural and urban economies, providing digital inclusion and equitable opportunities for disadvantaged groups.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8553" y="5647134"/>
            <a:ext cx="402550" cy="4025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58553" y="6192560"/>
            <a:ext cx="2916912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SDG 12: Responsible Consumption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1758553" y="6512719"/>
            <a:ext cx="548509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Promoting sustainable production and consumption of handcrafted goods, valuing traditional skills and ethical sourcing.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86518" y="5647134"/>
            <a:ext cx="402550" cy="4025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386518" y="6192560"/>
            <a:ext cx="201322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SDG 17: Partnerships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7386518" y="6512719"/>
            <a:ext cx="5485209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Fostering collaborations with Self-Help Groups (SHGs) and NGOs for community mobilization and last-mile support.</a:t>
            </a:r>
            <a:endParaRPr lang="en-US" sz="12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153463-9BB7-DD9D-4190-C880CE5D5273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0DAC9C-8578-135B-3EDC-AAF1C0A7EC5A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48639"/>
            <a:ext cx="58092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 Stack we are using 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97580"/>
            <a:ext cx="3090505" cy="2283381"/>
          </a:xfrm>
          <a:prstGeom prst="roundRect">
            <a:avLst>
              <a:gd name="adj" fmla="val 417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8224" y="3732014"/>
            <a:ext cx="262163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Next.js 16 (App Router), Tailwind CSS, shadcn/ui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111109" y="3497580"/>
            <a:ext cx="3090624" cy="2283381"/>
          </a:xfrm>
          <a:prstGeom prst="roundRect">
            <a:avLst>
              <a:gd name="adj" fmla="val 417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45543" y="3732014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Backend: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FastAPI (Python) with Kimi K2.5 via OpenRouter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497580"/>
            <a:ext cx="3090624" cy="2283381"/>
          </a:xfrm>
          <a:prstGeom prst="roundRect">
            <a:avLst>
              <a:gd name="adj" fmla="val 417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662982" y="3732014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PostgreSQL via Drizzle ORM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10745986" y="3497580"/>
            <a:ext cx="3090624" cy="2283381"/>
          </a:xfrm>
          <a:prstGeom prst="roundRect">
            <a:avLst>
              <a:gd name="adj" fmla="val 417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80420" y="3732014"/>
            <a:ext cx="262175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Detection:</a:t>
            </a: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Kimi K2.5 vision (replaced YOLO — no torch/ultralytics dependency)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9BD360-735F-5BCA-A271-6D1A988E6E99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C6A975-F7F3-0EA0-EF00-3E0B765DE073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3416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Scope: Mobile App for Wider Access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9188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93790" y="3046928"/>
            <a:ext cx="3664744" cy="30480"/>
          </a:xfrm>
          <a:prstGeom prst="rect">
            <a:avLst/>
          </a:prstGeom>
          <a:solidFill>
            <a:srgbClr val="835E54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6" name="Text 3"/>
          <p:cNvSpPr/>
          <p:nvPr/>
        </p:nvSpPr>
        <p:spPr>
          <a:xfrm>
            <a:off x="793790" y="3221236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Making a mobile app for easier access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93790" y="4065984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make it easier for rural women to access the interface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93790" y="7005042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F2AD78-39A8-81B5-F6CF-CDAA52C029E1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1D1371-B0AE-9AE2-3C35-70DF33DDA283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017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66696" y="2857083"/>
            <a:ext cx="7004804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                                            THANK YOU!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00445" y="4485918"/>
            <a:ext cx="4292084" cy="2949773"/>
          </a:xfrm>
          <a:prstGeom prst="roundRect">
            <a:avLst>
              <a:gd name="adj" fmla="val 372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700445" y="4463058"/>
            <a:ext cx="4292084" cy="91440"/>
          </a:xfrm>
          <a:prstGeom prst="roundRect">
            <a:avLst>
              <a:gd name="adj" fmla="val 9192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546271" y="4185761"/>
            <a:ext cx="600313" cy="600313"/>
          </a:xfrm>
          <a:prstGeom prst="roundRect">
            <a:avLst>
              <a:gd name="adj" fmla="val 15232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23330" y="4986218"/>
            <a:ext cx="250174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Impact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23330" y="5404723"/>
            <a:ext cx="3846314" cy="1808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Empowering rural women artisans creates sustainable livelihoods, strengthens communities, and delivers measurable SDG outcomes across gender equality, decent work, and poverty reduction.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169098" y="4485918"/>
            <a:ext cx="4292084" cy="2949773"/>
          </a:xfrm>
          <a:prstGeom prst="roundRect">
            <a:avLst>
              <a:gd name="adj" fmla="val 372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169098" y="4463058"/>
            <a:ext cx="4292084" cy="91440"/>
          </a:xfrm>
          <a:prstGeom prst="roundRect">
            <a:avLst>
              <a:gd name="adj" fmla="val 9192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014924" y="4185761"/>
            <a:ext cx="600313" cy="600313"/>
          </a:xfrm>
          <a:prstGeom prst="roundRect">
            <a:avLst>
              <a:gd name="adj" fmla="val 15232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391983" y="4986218"/>
            <a:ext cx="250174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How We Deliver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5391983" y="5404723"/>
            <a:ext cx="3846314" cy="150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Traceable, ethical marketplaces plus mobile tools (offline catalog, chat, notifications) expand market access, boost retention, and connect buyers directly with makers.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9637752" y="4485918"/>
            <a:ext cx="4292084" cy="2949773"/>
          </a:xfrm>
          <a:prstGeom prst="roundRect">
            <a:avLst>
              <a:gd name="adj" fmla="val 3720"/>
            </a:avLst>
          </a:prstGeom>
          <a:solidFill>
            <a:srgbClr val="FFF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9637752" y="4463058"/>
            <a:ext cx="4292084" cy="91440"/>
          </a:xfrm>
          <a:prstGeom prst="roundRect">
            <a:avLst>
              <a:gd name="adj" fmla="val 91929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1483578" y="4185761"/>
            <a:ext cx="600313" cy="600313"/>
          </a:xfrm>
          <a:prstGeom prst="roundRect">
            <a:avLst>
              <a:gd name="adj" fmla="val 152321"/>
            </a:avLst>
          </a:prstGeom>
          <a:solidFill>
            <a:srgbClr val="835E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860637" y="4986218"/>
            <a:ext cx="2501741" cy="312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Call to Action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9860637" y="5404723"/>
            <a:ext cx="3846314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as investors, CSR partners, NGOs, or community groups to scale impact, co-design solutions, and ensure benefits reach the last mile.</a:t>
            </a:r>
            <a:endParaRPr lang="en-US" sz="15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8563DC-2A0B-43D9-5B01-7F035F84ED79}"/>
              </a:ext>
            </a:extLst>
          </p:cNvPr>
          <p:cNvSpPr/>
          <p:nvPr/>
        </p:nvSpPr>
        <p:spPr>
          <a:xfrm>
            <a:off x="12846205" y="7761249"/>
            <a:ext cx="1650380" cy="3283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C3A25E-9365-1EC7-ED01-A28A4BD3A126}"/>
              </a:ext>
            </a:extLst>
          </p:cNvPr>
          <p:cNvSpPr txBox="1"/>
          <p:nvPr/>
        </p:nvSpPr>
        <p:spPr>
          <a:xfrm>
            <a:off x="12980020" y="7761249"/>
            <a:ext cx="165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Team: </a:t>
            </a:r>
            <a:r>
              <a:rPr lang="en-IN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Bisleri</a:t>
            </a:r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637</Words>
  <Application>Microsoft Office PowerPoint</Application>
  <PresentationFormat>Custom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Open Sans</vt:lpstr>
      <vt:lpstr>Crimson Pro Light</vt:lpstr>
      <vt:lpstr>Crimson Pro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Bhakti Wagh</cp:lastModifiedBy>
  <cp:revision>4</cp:revision>
  <dcterms:created xsi:type="dcterms:W3CDTF">2026-02-21T09:41:24Z</dcterms:created>
  <dcterms:modified xsi:type="dcterms:W3CDTF">2026-02-21T10:02:24Z</dcterms:modified>
</cp:coreProperties>
</file>